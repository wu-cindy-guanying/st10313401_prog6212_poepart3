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1" r:id="rId8"/>
    <p:sldId id="262" r:id="rId9"/>
    <p:sldId id="274" r:id="rId10"/>
    <p:sldId id="275" r:id="rId11"/>
    <p:sldId id="277" r:id="rId12"/>
    <p:sldId id="276" r:id="rId13"/>
    <p:sldId id="278" r:id="rId14"/>
    <p:sldId id="279" r:id="rId15"/>
    <p:sldId id="263" r:id="rId16"/>
    <p:sldId id="267" r:id="rId17"/>
    <p:sldId id="271" r:id="rId18"/>
    <p:sldId id="272" r:id="rId19"/>
    <p:sldId id="273" r:id="rId20"/>
    <p:sldId id="270" r:id="rId21"/>
    <p:sldId id="268" r:id="rId22"/>
    <p:sldId id="283" r:id="rId23"/>
    <p:sldId id="28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ECF6"/>
    <a:srgbClr val="73E2F1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lose-up-of-scrabble-tiles-forming-the-words-the-end-2889685/" TargetMode="Externa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541462" cy="3686015"/>
          </a:xfrm>
        </p:spPr>
        <p:txBody>
          <a:bodyPr>
            <a:normAutofit/>
          </a:bodyPr>
          <a:lstStyle/>
          <a:p>
            <a:r>
              <a:rPr lang="en-US" sz="8000" dirty="0"/>
              <a:t>PROG6212</a:t>
            </a:r>
            <a:br>
              <a:rPr lang="en-US" sz="8000" dirty="0"/>
            </a:br>
            <a:r>
              <a:rPr lang="en-US" sz="8000" dirty="0"/>
              <a:t>POE PART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ST10313401 CINDY GUAN-YING WU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mputer script on a screen">
            <a:extLst>
              <a:ext uri="{FF2B5EF4-FFF2-40B4-BE49-F238E27FC236}">
                <a16:creationId xmlns:a16="http://schemas.microsoft.com/office/drawing/2014/main" id="{B2BA127C-31FF-44CA-BB58-43E829B35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897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THIS PRESENTATION SHOWS THE IMPROVEMENTS MADE TO PART 2, FOR THE COMPLETION OF PART 3.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Contract Monthly Claim System: A comprehensive ASP.NET Core web application for managing monthly claims submission, approval, and payroll processing for contract lecturers in educational institutions.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5726-7B8C-A6C5-3217-98A5A55D2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IMPROVEMENTS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43418-0F45-1025-5861-7A04E6E39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31342"/>
          </a:xfrm>
        </p:spPr>
        <p:txBody>
          <a:bodyPr>
            <a:normAutofit/>
          </a:bodyPr>
          <a:lstStyle/>
          <a:p>
            <a:r>
              <a:rPr lang="en-ZA" dirty="0"/>
              <a:t>- </a:t>
            </a:r>
            <a:r>
              <a:rPr lang="en-US" dirty="0"/>
              <a:t>HR: </a:t>
            </a:r>
          </a:p>
          <a:p>
            <a:pPr lvl="1"/>
            <a:r>
              <a:rPr lang="en-US" dirty="0"/>
              <a:t>HR adds/create all users and adds all information like name, surname, email, hourly rate etc. </a:t>
            </a:r>
          </a:p>
          <a:p>
            <a:pPr lvl="1"/>
            <a:r>
              <a:rPr lang="en-US" dirty="0"/>
              <a:t>HR can update all user information. </a:t>
            </a:r>
          </a:p>
          <a:p>
            <a:pPr lvl="1"/>
            <a:r>
              <a:rPr lang="en-US" dirty="0"/>
              <a:t>HR can generate reports or invoices (using LINQ) and is downloadable as PDF. </a:t>
            </a:r>
          </a:p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r>
              <a:rPr lang="en-US" dirty="0"/>
              <a:t>-Lecturer:</a:t>
            </a:r>
          </a:p>
          <a:p>
            <a:pPr lvl="1"/>
            <a:r>
              <a:rPr lang="en-US" dirty="0"/>
              <a:t>Login function added</a:t>
            </a:r>
          </a:p>
          <a:p>
            <a:pPr lvl="1"/>
            <a:r>
              <a:rPr lang="en-US" dirty="0"/>
              <a:t>When logged in and submitting a claim, name, surname and hourly rate should be pulled from what the HR has added. </a:t>
            </a:r>
          </a:p>
          <a:p>
            <a:pPr lvl="1"/>
            <a:r>
              <a:rPr lang="en-US" dirty="0"/>
              <a:t>Should have an auto-calculation</a:t>
            </a:r>
          </a:p>
          <a:p>
            <a:pPr lvl="1"/>
            <a:r>
              <a:rPr lang="en-US" dirty="0"/>
              <a:t>Validation (maximum working hours should not exceed 180 hours).</a:t>
            </a:r>
          </a:p>
          <a:p>
            <a:pPr lvl="1"/>
            <a:r>
              <a:rPr lang="en-US" dirty="0"/>
              <a:t>EF with a database (integrated with SSMS).</a:t>
            </a:r>
          </a:p>
        </p:txBody>
      </p:sp>
    </p:spTree>
    <p:extLst>
      <p:ext uri="{BB962C8B-B14F-4D97-AF65-F5344CB8AC3E}">
        <p14:creationId xmlns:p14="http://schemas.microsoft.com/office/powerpoint/2010/main" val="7800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0E72E-C231-FFE5-132A-F10DBF157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364352"/>
            <a:ext cx="3517567" cy="2093975"/>
          </a:xfrm>
        </p:spPr>
        <p:txBody>
          <a:bodyPr anchor="b">
            <a:normAutofit/>
          </a:bodyPr>
          <a:lstStyle/>
          <a:p>
            <a:r>
              <a:rPr lang="en-ZA" dirty="0"/>
              <a:t>HR: HRController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3A54A-4158-D94C-C1BB-B0B763E1B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/>
              <a:t>The HR can: </a:t>
            </a:r>
          </a:p>
          <a:p>
            <a:r>
              <a:rPr lang="en-US" dirty="0"/>
              <a:t>- Manage lecturer profiles and rates</a:t>
            </a:r>
          </a:p>
          <a:p>
            <a:r>
              <a:rPr lang="en-US" dirty="0"/>
              <a:t>- Create and manage staff (program coordinators and academic managers) accounts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782613F-11CC-9C0F-902C-B2CEDD6C8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5553" y="161450"/>
            <a:ext cx="3567016" cy="3257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FCA737-8EA4-CE66-3BFD-C1C182EAE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1" y="3458699"/>
            <a:ext cx="4737618" cy="332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187C4E-292B-E546-8039-EF0563D13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8081" y="153902"/>
            <a:ext cx="4083812" cy="3358935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F8245-9D16-EDFF-DF5C-437DB113F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/>
              <a:t>- Generate comprehensive reports</a:t>
            </a:r>
          </a:p>
          <a:p>
            <a:r>
              <a:rPr lang="en-US" dirty="0"/>
              <a:t>- Process payroll and generate invoices</a:t>
            </a:r>
          </a:p>
          <a:p>
            <a:r>
              <a:rPr lang="en-US" dirty="0"/>
              <a:t>- System-wide analytics and monitoring</a:t>
            </a:r>
            <a:endParaRPr lang="en-ZA" dirty="0"/>
          </a:p>
          <a:p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84B158-3668-D766-D0D2-AF3C9E485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826" y="3714370"/>
            <a:ext cx="5788000" cy="28111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DFF27F-1E1F-2270-1561-4FC8B1FC5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785813"/>
            <a:ext cx="3517900" cy="2093912"/>
          </a:xfrm>
        </p:spPr>
        <p:txBody>
          <a:bodyPr anchor="b">
            <a:normAutofit/>
          </a:bodyPr>
          <a:lstStyle/>
          <a:p>
            <a:r>
              <a:rPr lang="en-ZA" dirty="0"/>
              <a:t>HR: HRController</a:t>
            </a:r>
          </a:p>
        </p:txBody>
      </p:sp>
    </p:spTree>
    <p:extLst>
      <p:ext uri="{BB962C8B-B14F-4D97-AF65-F5344CB8AC3E}">
        <p14:creationId xmlns:p14="http://schemas.microsoft.com/office/powerpoint/2010/main" val="350752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39FDE-0DA6-A441-A4F2-0D0C338E7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ZA" dirty="0"/>
              <a:t>HR: Create lecturer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4BB9D6-67D1-B339-4392-ED12E752F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826722"/>
            <a:ext cx="10058400" cy="31098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8E1B5F-F2EB-73F4-7D1C-D72F56A1D3E3}"/>
              </a:ext>
            </a:extLst>
          </p:cNvPr>
          <p:cNvSpPr txBox="1"/>
          <p:nvPr/>
        </p:nvSpPr>
        <p:spPr>
          <a:xfrm>
            <a:off x="1014884" y="2016412"/>
            <a:ext cx="10748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The HR can add a new lecturer and set an initial login password for the lecturer. Moreover, it can set the lecturer to either be active or inactive.</a:t>
            </a:r>
          </a:p>
        </p:txBody>
      </p:sp>
    </p:spTree>
    <p:extLst>
      <p:ext uri="{BB962C8B-B14F-4D97-AF65-F5344CB8AC3E}">
        <p14:creationId xmlns:p14="http://schemas.microsoft.com/office/powerpoint/2010/main" val="110408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037B3-D4ED-6044-2FCA-05CA41D6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HR: Manage/Edit lecturer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41889F-4894-050D-693A-D6066AC42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2017" y="2508250"/>
            <a:ext cx="8675699" cy="37607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AF2A48-F751-7FCF-6719-15F2C10A31C1}"/>
              </a:ext>
            </a:extLst>
          </p:cNvPr>
          <p:cNvSpPr txBox="1"/>
          <p:nvPr/>
        </p:nvSpPr>
        <p:spPr>
          <a:xfrm>
            <a:off x="1097280" y="1938139"/>
            <a:ext cx="8636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HR can also manage all the lecturers: Edit their details and to activate/deactivate them</a:t>
            </a:r>
          </a:p>
        </p:txBody>
      </p:sp>
    </p:spTree>
    <p:extLst>
      <p:ext uri="{BB962C8B-B14F-4D97-AF65-F5344CB8AC3E}">
        <p14:creationId xmlns:p14="http://schemas.microsoft.com/office/powerpoint/2010/main" val="73609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021AE-32BA-CB95-EB69-7CBE68635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HR: Create coordinator/manager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211E5A-1B51-ADCC-8029-13F384B7D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999" y="2505817"/>
            <a:ext cx="5362078" cy="32155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C1CCBE-8A90-ACFA-AC6E-0D6323645A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502"/>
          <a:stretch>
            <a:fillRect/>
          </a:stretch>
        </p:blipFill>
        <p:spPr>
          <a:xfrm>
            <a:off x="5891063" y="2505817"/>
            <a:ext cx="6035938" cy="3215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8364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55C8-D85F-08E8-05DF-FB366302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HR: Manage coordinator/manager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F2FD8-8375-54A1-339A-34DC8B037BDF}"/>
              </a:ext>
            </a:extLst>
          </p:cNvPr>
          <p:cNvSpPr txBox="1"/>
          <p:nvPr/>
        </p:nvSpPr>
        <p:spPr>
          <a:xfrm>
            <a:off x="1097280" y="1973819"/>
            <a:ext cx="829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HR can also edit activate/deactivate Program Coordinator and Academic Managers.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7730FE4-6353-6676-ABB3-9BAB68BC0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023" y="2579610"/>
            <a:ext cx="10701872" cy="349461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1584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ADA25-DD9D-B30F-F70F-CD356AC7D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HR: Generate Reports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465290-32B2-7A7B-1601-7A1C2FF8A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7092" y="2447690"/>
            <a:ext cx="8022020" cy="37607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425FB0-F429-5640-E94F-B2CA1E1B1FBD}"/>
              </a:ext>
            </a:extLst>
          </p:cNvPr>
          <p:cNvSpPr txBox="1"/>
          <p:nvPr/>
        </p:nvSpPr>
        <p:spPr>
          <a:xfrm>
            <a:off x="587828" y="1907859"/>
            <a:ext cx="1143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HR can generate relevant reports including: Monthly invoice, Payroll, Claims report, Lecturers report and Staff report.</a:t>
            </a:r>
          </a:p>
        </p:txBody>
      </p:sp>
    </p:spTree>
    <p:extLst>
      <p:ext uri="{BB962C8B-B14F-4D97-AF65-F5344CB8AC3E}">
        <p14:creationId xmlns:p14="http://schemas.microsoft.com/office/powerpoint/2010/main" val="325260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CEC1-B3A5-6E9B-A5AA-767630FB8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HR: Generate Reports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7494E2-0B6A-A31C-7ABB-15EEF4118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33646"/>
            <a:ext cx="8615887" cy="23904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3ABB42-183E-C79D-EE21-ED552E8EC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621" y="4635751"/>
            <a:ext cx="4544059" cy="15146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3086F9-6A1E-3E99-D6A5-86E41594E63E}"/>
              </a:ext>
            </a:extLst>
          </p:cNvPr>
          <p:cNvSpPr txBox="1"/>
          <p:nvPr/>
        </p:nvSpPr>
        <p:spPr>
          <a:xfrm>
            <a:off x="756975" y="5208428"/>
            <a:ext cx="5339026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ZA" dirty="0"/>
              <a:t>The reports generated are also downloadable as PDF. This is achieved using LINQ</a:t>
            </a:r>
          </a:p>
        </p:txBody>
      </p:sp>
    </p:spTree>
    <p:extLst>
      <p:ext uri="{BB962C8B-B14F-4D97-AF65-F5344CB8AC3E}">
        <p14:creationId xmlns:p14="http://schemas.microsoft.com/office/powerpoint/2010/main" val="339048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57211-1EDE-0571-9BB2-E43F61854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en-ZA" dirty="0"/>
              <a:t>Login </a:t>
            </a:r>
          </a:p>
        </p:txBody>
      </p:sp>
      <p:pic>
        <p:nvPicPr>
          <p:cNvPr id="6" name="Content Placeholder 5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DC4EB982-2D06-C0EE-B01C-9BF758B20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3629" y="1769064"/>
            <a:ext cx="5928344" cy="33198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D45AE-885B-5010-2958-A32C8FFAD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ZA" dirty="0"/>
              <a:t>Added login functionality:</a:t>
            </a:r>
          </a:p>
          <a:p>
            <a:pPr marL="285750" indent="-285750">
              <a:buFontTx/>
              <a:buChar char="-"/>
            </a:pPr>
            <a:r>
              <a:rPr lang="en-ZA" dirty="0"/>
              <a:t>To allow certain </a:t>
            </a:r>
            <a:r>
              <a:rPr lang="en-ZA" b="1" dirty="0">
                <a:solidFill>
                  <a:srgbClr val="FFFF00"/>
                </a:solidFill>
              </a:rPr>
              <a:t>levels of access</a:t>
            </a:r>
            <a:r>
              <a:rPr lang="en-ZA" dirty="0"/>
              <a:t> of information based on login role.</a:t>
            </a:r>
          </a:p>
          <a:p>
            <a:pPr marL="285750" indent="-285750">
              <a:buFontTx/>
              <a:buChar char="-"/>
            </a:pPr>
            <a:r>
              <a:rPr lang="en-ZA" dirty="0"/>
              <a:t>E.g. HR have </a:t>
            </a:r>
            <a:r>
              <a:rPr lang="en-ZA" u="sng" dirty="0"/>
              <a:t>full access</a:t>
            </a:r>
            <a:r>
              <a:rPr lang="en-ZA" dirty="0"/>
              <a:t>/ Lecturers have </a:t>
            </a:r>
            <a:r>
              <a:rPr lang="en-ZA" u="sng" dirty="0"/>
              <a:t>no access </a:t>
            </a:r>
            <a:r>
              <a:rPr lang="en-ZA" dirty="0"/>
              <a:t>to approval page</a:t>
            </a:r>
          </a:p>
        </p:txBody>
      </p:sp>
    </p:spTree>
    <p:extLst>
      <p:ext uri="{BB962C8B-B14F-4D97-AF65-F5344CB8AC3E}">
        <p14:creationId xmlns:p14="http://schemas.microsoft.com/office/powerpoint/2010/main" val="332889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095BF19-DD74-0FA9-F0FC-B25EFE794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52" y="749040"/>
            <a:ext cx="11646025" cy="323177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D575AE-FDAD-6FFC-F225-4FBF99D04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vert="horz" lIns="91440" tIns="0" rIns="91440" bIns="0" rtlCol="0" anchor="b">
            <a:normAutofit/>
          </a:bodyPr>
          <a:lstStyle/>
          <a:p>
            <a:r>
              <a:rPr lang="en-US" b="0" i="0" kern="1200" spc="-50" baseline="0" dirty="0">
                <a:latin typeface="+mj-lt"/>
                <a:ea typeface="+mj-ea"/>
                <a:cs typeface="+mj-cs"/>
              </a:rPr>
              <a:t>Login: Lecturer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9E6E8-EC89-F64E-1FC3-AF588CAE8A6F}"/>
              </a:ext>
            </a:extLst>
          </p:cNvPr>
          <p:cNvSpPr txBox="1"/>
          <p:nvPr/>
        </p:nvSpPr>
        <p:spPr>
          <a:xfrm>
            <a:off x="1097279" y="5715000"/>
            <a:ext cx="10113264" cy="609600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Lecturer logs in but ONLY has access to the page where they can </a:t>
            </a:r>
            <a:r>
              <a:rPr lang="en-US" kern="1200" dirty="0">
                <a:solidFill>
                  <a:srgbClr val="FFFF00"/>
                </a:solidFill>
                <a:latin typeface="+mn-lt"/>
                <a:ea typeface="+mn-ea"/>
                <a:cs typeface="+mn-cs"/>
              </a:rPr>
              <a:t>create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en-US" kern="1200" dirty="0">
                <a:solidFill>
                  <a:srgbClr val="FFFF00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their own claims, but not to approve or edit.</a:t>
            </a:r>
          </a:p>
        </p:txBody>
      </p:sp>
    </p:spTree>
    <p:extLst>
      <p:ext uri="{BB962C8B-B14F-4D97-AF65-F5344CB8AC3E}">
        <p14:creationId xmlns:p14="http://schemas.microsoft.com/office/powerpoint/2010/main" val="197451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3AF22CF-1C08-F09A-08E5-1FAB32CB222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331" b="7331"/>
          <a:stretch/>
        </p:blipFill>
        <p:spPr>
          <a:xfrm>
            <a:off x="0" y="-1710"/>
            <a:ext cx="12192000" cy="4629116"/>
          </a:xfrm>
          <a:prstGeom prst="rect">
            <a:avLst/>
          </a:prstGeom>
          <a:solidFill>
            <a:srgbClr val="FFFFFF">
              <a:lumMod val="85000"/>
            </a:srgb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AE48121-9BFC-B94E-126C-9A1E914B1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Login: Program Coordinator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4692-8806-0E56-DDE0-5CDAC5ED1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ZA" dirty="0"/>
              <a:t>- Coordinator logs in and has access to the approval page and </a:t>
            </a:r>
            <a:r>
              <a:rPr lang="en-ZA" dirty="0">
                <a:solidFill>
                  <a:srgbClr val="FFFF00"/>
                </a:solidFill>
              </a:rPr>
              <a:t>approve</a:t>
            </a:r>
            <a:r>
              <a:rPr lang="en-ZA" dirty="0"/>
              <a:t> or </a:t>
            </a:r>
            <a:r>
              <a:rPr lang="en-ZA" dirty="0">
                <a:solidFill>
                  <a:srgbClr val="FFFF00"/>
                </a:solidFill>
              </a:rPr>
              <a:t>reject</a:t>
            </a:r>
            <a:r>
              <a:rPr lang="en-ZA" dirty="0"/>
              <a:t> the claim made by the lecturer.</a:t>
            </a:r>
          </a:p>
        </p:txBody>
      </p:sp>
    </p:spTree>
    <p:extLst>
      <p:ext uri="{BB962C8B-B14F-4D97-AF65-F5344CB8AC3E}">
        <p14:creationId xmlns:p14="http://schemas.microsoft.com/office/powerpoint/2010/main" val="2096457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7140489-9A9E-FFAF-3685-B48228E4F5F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225" b="2225"/>
          <a:stretch/>
        </p:blipFill>
        <p:spPr>
          <a:prstGeom prst="rect">
            <a:avLst/>
          </a:prstGeom>
          <a:solidFill>
            <a:srgbClr val="FFFFFF">
              <a:lumMod val="85000"/>
            </a:srgbClr>
          </a:solidFill>
          <a:ln>
            <a:solidFill>
              <a:schemeClr val="accent1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C54947-A1C0-8369-5FEA-8C9029CC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Login: Academic Manager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6F3D4-01FB-D6A6-7C3D-EF0C1508E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ZA" dirty="0"/>
              <a:t>- The manager logs in and has access to the Final Approval page where he/she can make the final </a:t>
            </a:r>
            <a:r>
              <a:rPr lang="en-ZA" dirty="0">
                <a:solidFill>
                  <a:srgbClr val="FFFF00"/>
                </a:solidFill>
              </a:rPr>
              <a:t>approval</a:t>
            </a:r>
            <a:r>
              <a:rPr lang="en-ZA" dirty="0"/>
              <a:t> or </a:t>
            </a:r>
            <a:r>
              <a:rPr lang="en-ZA" dirty="0">
                <a:solidFill>
                  <a:srgbClr val="FFFF00"/>
                </a:solidFill>
              </a:rPr>
              <a:t>rejection</a:t>
            </a:r>
            <a:r>
              <a:rPr lang="en-Z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228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61A4B9E-1EC2-7D86-5673-0D284B8C12A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5295" b="5295"/>
          <a:stretch/>
        </p:blipFill>
        <p:spPr>
          <a:xfrm>
            <a:off x="24" y="0"/>
            <a:ext cx="12191967" cy="4578350"/>
          </a:xfrm>
          <a:prstGeom prst="rect">
            <a:avLst/>
          </a:prstGeom>
          <a:noFill/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3189DD54-11EE-368C-7B53-09B75F5EA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/>
          <a:lstStyle/>
          <a:p>
            <a:r>
              <a:rPr lang="en-US" dirty="0"/>
              <a:t>Login: HR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68382F9-8AF9-0E9B-763E-140652223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r>
              <a:rPr lang="en-US" dirty="0"/>
              <a:t>- HR logs in and has access to all manage functions, including </a:t>
            </a:r>
            <a:r>
              <a:rPr lang="en-US" dirty="0">
                <a:solidFill>
                  <a:srgbClr val="FFFF00"/>
                </a:solidFill>
              </a:rPr>
              <a:t>add</a:t>
            </a:r>
            <a:r>
              <a:rPr lang="en-US" dirty="0"/>
              <a:t>, </a:t>
            </a:r>
            <a:r>
              <a:rPr lang="en-US" dirty="0">
                <a:solidFill>
                  <a:srgbClr val="FFFF00"/>
                </a:solidFill>
              </a:rPr>
              <a:t>edit</a:t>
            </a:r>
            <a:r>
              <a:rPr lang="en-US" dirty="0"/>
              <a:t> and </a:t>
            </a:r>
            <a:r>
              <a:rPr lang="en-US" dirty="0">
                <a:solidFill>
                  <a:srgbClr val="FFFF00"/>
                </a:solidFill>
              </a:rPr>
              <a:t>generate</a:t>
            </a:r>
            <a:r>
              <a:rPr lang="en-US" dirty="0"/>
              <a:t> all relevant reports. The HR has full access.</a:t>
            </a:r>
          </a:p>
        </p:txBody>
      </p:sp>
    </p:spTree>
    <p:extLst>
      <p:ext uri="{BB962C8B-B14F-4D97-AF65-F5344CB8AC3E}">
        <p14:creationId xmlns:p14="http://schemas.microsoft.com/office/powerpoint/2010/main" val="238439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8858-ECD7-E27F-CFB5-D7DA563F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Automatic calculation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F22171-9D02-E720-3307-EE2F24CDE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2483" y="1093415"/>
            <a:ext cx="7335597" cy="13501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8F522-CEEC-B7F3-F97C-140303FA5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ZA" dirty="0"/>
              <a:t>- The web app automatically pulls the hourly rate set for each lecturer and automatically calculates the total amount.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F52E74-7D02-DF96-8A8B-AAB9B0FD4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146" y="2845904"/>
            <a:ext cx="6692919" cy="116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71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5E91-0A52-1371-D925-2C920304D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81" y="1789987"/>
            <a:ext cx="3517567" cy="950879"/>
          </a:xfrm>
        </p:spPr>
        <p:txBody>
          <a:bodyPr anchor="b">
            <a:normAutofit/>
          </a:bodyPr>
          <a:lstStyle/>
          <a:p>
            <a:r>
              <a:rPr lang="en-ZA" dirty="0"/>
              <a:t>Validation: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6C2504-8AC4-A7D2-23B7-3BF423EDF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723" y="773424"/>
            <a:ext cx="7358252" cy="222587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62EE7D1-808D-CC4B-8497-C50F9BBB1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2982" y="2882919"/>
            <a:ext cx="3517567" cy="3064505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The web app validates the working hours.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maximum working hours is 180 hours.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Thus, the claim cannot be created if the working hours exceeds 180 hours.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85980E-1722-783D-474C-1239BC068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180" y="3429000"/>
            <a:ext cx="7229795" cy="197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8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A67FF-7961-38B4-8923-A79C1A7AECD8}"/>
              </a:ext>
            </a:extLst>
          </p:cNvPr>
          <p:cNvSpPr txBox="1">
            <a:spLocks/>
          </p:cNvSpPr>
          <p:nvPr/>
        </p:nvSpPr>
        <p:spPr>
          <a:xfrm>
            <a:off x="2226906" y="469020"/>
            <a:ext cx="10058400" cy="92333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/>
              <a:t>SSMS database integration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487B9-8788-5155-5A51-0236FCF9FF45}"/>
              </a:ext>
            </a:extLst>
          </p:cNvPr>
          <p:cNvSpPr txBox="1"/>
          <p:nvPr/>
        </p:nvSpPr>
        <p:spPr>
          <a:xfrm>
            <a:off x="202954" y="2899175"/>
            <a:ext cx="9229963" cy="646331"/>
          </a:xfrm>
          <a:prstGeom prst="rect">
            <a:avLst/>
          </a:prstGeom>
          <a:solidFill>
            <a:srgbClr val="A4ECF6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ZA" dirty="0"/>
              <a:t>The web app has been integrated with the SSMS (SQL Server Management Studio) database.</a:t>
            </a:r>
          </a:p>
          <a:p>
            <a:r>
              <a:rPr lang="en-ZA" dirty="0"/>
              <a:t>The connection to the database was formed using the connection string. 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E100746A-C699-30A8-3E3F-543833987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27" y="1322455"/>
            <a:ext cx="11912051" cy="8540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64ACDB-B5CD-2284-62E2-4CAE9B848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326" y="2330025"/>
            <a:ext cx="2591162" cy="38295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090247-AB61-2078-E610-085EDA706A48}"/>
              </a:ext>
            </a:extLst>
          </p:cNvPr>
          <p:cNvSpPr txBox="1"/>
          <p:nvPr/>
        </p:nvSpPr>
        <p:spPr>
          <a:xfrm>
            <a:off x="241327" y="4268144"/>
            <a:ext cx="9118181" cy="923330"/>
          </a:xfrm>
          <a:prstGeom prst="rect">
            <a:avLst/>
          </a:prstGeom>
          <a:solidFill>
            <a:srgbClr val="A4ECF6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ZA" dirty="0"/>
              <a:t>Relevant DB (named “CMCS” in this case) and necessary tables are created in the SSMS to store information for each user.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095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close-up of wooden letters&#10;&#10;AI-generated content may be incorrect.">
            <a:extLst>
              <a:ext uri="{FF2B5EF4-FFF2-40B4-BE49-F238E27FC236}">
                <a16:creationId xmlns:a16="http://schemas.microsoft.com/office/drawing/2014/main" id="{0CCC027F-C2F5-8E35-ACC7-63B0DD091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"/>
            <a:ext cx="12192000" cy="643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744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{5C1DE045-4B79-4A08-AC9F-3CBC5627DFE6}tf56160789_win32</Template>
  <TotalTime>100</TotalTime>
  <Words>593</Words>
  <Application>Microsoft Office PowerPoint</Application>
  <PresentationFormat>Widescreen</PresentationFormat>
  <Paragraphs>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Bookman Old Style</vt:lpstr>
      <vt:lpstr>Calibri</vt:lpstr>
      <vt:lpstr>Franklin Gothic Book</vt:lpstr>
      <vt:lpstr>Custom</vt:lpstr>
      <vt:lpstr>PROG6212 POE PART 3</vt:lpstr>
      <vt:lpstr>THIS PRESENTATION SHOWS THE IMPROVEMENTS MADE TO PART 2, FOR THE COMPLETION OF PART 3.</vt:lpstr>
      <vt:lpstr>IMPROVEMENTS MADE</vt:lpstr>
      <vt:lpstr>HR: HRController</vt:lpstr>
      <vt:lpstr>HR: HRController</vt:lpstr>
      <vt:lpstr>HR: Create lecturer</vt:lpstr>
      <vt:lpstr>HR: Manage/Edit lecturer</vt:lpstr>
      <vt:lpstr>HR: Create coordinator/manager</vt:lpstr>
      <vt:lpstr>HR: Manage coordinator/manager</vt:lpstr>
      <vt:lpstr>HR: Generate Reports</vt:lpstr>
      <vt:lpstr>HR: Generate Reports</vt:lpstr>
      <vt:lpstr>Login </vt:lpstr>
      <vt:lpstr>Login: Lecturer</vt:lpstr>
      <vt:lpstr>Login: Program Coordinator</vt:lpstr>
      <vt:lpstr>Login: Academic Manager</vt:lpstr>
      <vt:lpstr>Login: HR</vt:lpstr>
      <vt:lpstr>Automatic calculation</vt:lpstr>
      <vt:lpstr>Validation: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Guan-Ying Wu</dc:creator>
  <cp:lastModifiedBy>Guan-Ying Wu</cp:lastModifiedBy>
  <cp:revision>24</cp:revision>
  <dcterms:created xsi:type="dcterms:W3CDTF">2025-11-21T21:44:16Z</dcterms:created>
  <dcterms:modified xsi:type="dcterms:W3CDTF">2025-11-21T23:24:32Z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